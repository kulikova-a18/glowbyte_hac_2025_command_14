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Roboto ExtraBold"/>
      <p:bold r:id="rId29"/>
      <p:boldItalic r:id="rId30"/>
    </p:embeddedFont>
    <p:embeddedFont>
      <p:font typeface="Roboto"/>
      <p:regular r:id="rId31"/>
      <p:bold r:id="rId32"/>
      <p:italic r:id="rId33"/>
      <p:boldItalic r:id="rId34"/>
    </p:embeddedFont>
    <p:embeddedFont>
      <p:font typeface="Montserrat"/>
      <p:regular r:id="rId35"/>
      <p:bold r:id="rId36"/>
      <p:italic r:id="rId37"/>
      <p:boldItalic r:id="rId38"/>
    </p:embeddedFont>
    <p:embeddedFont>
      <p:font typeface="Roboto Light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E6CF807-A415-47F1-879F-26BB6CB99823}">
  <a:tblStyle styleId="{CE6CF807-A415-47F1-879F-26BB6CB9982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Light-bold.fntdata"/><Relationship Id="rId20" Type="http://schemas.openxmlformats.org/officeDocument/2006/relationships/slide" Target="slides/slide14.xml"/><Relationship Id="rId42" Type="http://schemas.openxmlformats.org/officeDocument/2006/relationships/font" Target="fonts/RobotoLight-boldItalic.fntdata"/><Relationship Id="rId41" Type="http://schemas.openxmlformats.org/officeDocument/2006/relationships/font" Target="fonts/RobotoLight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Extra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regular.fntdata"/><Relationship Id="rId30" Type="http://schemas.openxmlformats.org/officeDocument/2006/relationships/font" Target="fonts/RobotoExtraBold-boldItalic.fntdata"/><Relationship Id="rId11" Type="http://schemas.openxmlformats.org/officeDocument/2006/relationships/slide" Target="slides/slide5.xml"/><Relationship Id="rId33" Type="http://schemas.openxmlformats.org/officeDocument/2006/relationships/font" Target="fonts/Roboto-italic.fntdata"/><Relationship Id="rId10" Type="http://schemas.openxmlformats.org/officeDocument/2006/relationships/slide" Target="slides/slide4.xml"/><Relationship Id="rId32" Type="http://schemas.openxmlformats.org/officeDocument/2006/relationships/font" Target="fonts/Roboto-bold.fntdata"/><Relationship Id="rId13" Type="http://schemas.openxmlformats.org/officeDocument/2006/relationships/slide" Target="slides/slide7.xml"/><Relationship Id="rId35" Type="http://schemas.openxmlformats.org/officeDocument/2006/relationships/font" Target="fonts/Montserrat-regular.fntdata"/><Relationship Id="rId12" Type="http://schemas.openxmlformats.org/officeDocument/2006/relationships/slide" Target="slides/slide6.xml"/><Relationship Id="rId34" Type="http://schemas.openxmlformats.org/officeDocument/2006/relationships/font" Target="fonts/Roboto-boldItalic.fntdata"/><Relationship Id="rId15" Type="http://schemas.openxmlformats.org/officeDocument/2006/relationships/slide" Target="slides/slide9.xml"/><Relationship Id="rId37" Type="http://schemas.openxmlformats.org/officeDocument/2006/relationships/font" Target="fonts/Montserrat-italic.fntdata"/><Relationship Id="rId14" Type="http://schemas.openxmlformats.org/officeDocument/2006/relationships/slide" Target="slides/slide8.xml"/><Relationship Id="rId36" Type="http://schemas.openxmlformats.org/officeDocument/2006/relationships/font" Target="fonts/Montserrat-bold.fntdata"/><Relationship Id="rId17" Type="http://schemas.openxmlformats.org/officeDocument/2006/relationships/slide" Target="slides/slide11.xml"/><Relationship Id="rId39" Type="http://schemas.openxmlformats.org/officeDocument/2006/relationships/font" Target="fonts/RobotoLight-regular.fntdata"/><Relationship Id="rId16" Type="http://schemas.openxmlformats.org/officeDocument/2006/relationships/slide" Target="slides/slide10.xml"/><Relationship Id="rId38" Type="http://schemas.openxmlformats.org/officeDocument/2006/relationships/font" Target="fonts/Montserrat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925a7208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925a7208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909953770_0_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a909953770_0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909953770_0_10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909953770_0_10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925a7208e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925a7208e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925a7208e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925a7208e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925a7208e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925a7208e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925a7208e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925a7208e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925a7208e_0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925a7208e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925a7208e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925a7208e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925a7208e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925a7208e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909953770_0_10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909953770_0_10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925a7208e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a925a7208e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925a7208e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925a7208e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925a7208e_2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925a7208e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909953770_0_10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a909953770_0_10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925a7208e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a925a7208e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909953770_0_10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a909953770_0_10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a909953770_0_10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a909953770_0_1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a909953770_0_10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a909953770_0_10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a925a7208e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a925a7208e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a909953770_0_10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a909953770_0_1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925a7208e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a925a7208e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hyperlink" Target="https://colab.research.google.com/drive/1m_ay4InoQD4758SvMLqGFeRq5rHr3EqJ?usp=sharing#scrollTo=-CTLsMiRRods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GigaChat (2).jpg"/>
          <p:cNvPicPr preferRelativeResize="0"/>
          <p:nvPr/>
        </p:nvPicPr>
        <p:blipFill rotWithShape="1">
          <a:blip r:embed="rId3">
            <a:alphaModFix/>
          </a:blip>
          <a:srcRect b="0" l="4662" r="0" t="3707"/>
          <a:stretch/>
        </p:blipFill>
        <p:spPr>
          <a:xfrm>
            <a:off x="4972675" y="876075"/>
            <a:ext cx="4115899" cy="41571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328825" y="716075"/>
            <a:ext cx="3053400" cy="108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1900">
                <a:solidFill>
                  <a:srgbClr val="434343"/>
                </a:solidFill>
                <a:latin typeface="Roboto Light"/>
                <a:ea typeface="Roboto Light"/>
                <a:cs typeface="Roboto Light"/>
                <a:sym typeface="Roboto Light"/>
              </a:rPr>
              <a:t>Команда 14</a:t>
            </a:r>
            <a:endParaRPr sz="1900">
              <a:solidFill>
                <a:srgbClr val="43434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501500" y="2732150"/>
            <a:ext cx="39450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ru" sz="1800">
                <a:latin typeface="Roboto Light"/>
                <a:ea typeface="Roboto Light"/>
                <a:cs typeface="Roboto Light"/>
                <a:sym typeface="Roboto Light"/>
              </a:rPr>
              <a:t>Прогноз самовозгорания угля при открытом хранении </a:t>
            </a:r>
            <a:endParaRPr sz="18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94600" y="1618575"/>
            <a:ext cx="5116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rgbClr val="FF9900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GlowByte</a:t>
            </a:r>
            <a:r>
              <a:rPr lang="ru" sz="3000">
                <a:solidFill>
                  <a:srgbClr val="FF9900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</a:t>
            </a:r>
            <a:r>
              <a:rPr lang="ru" sz="26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Хакатон 2025</a:t>
            </a:r>
            <a:endParaRPr sz="2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287825" y="154175"/>
            <a:ext cx="7465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Состав команды</a:t>
            </a:r>
            <a:endParaRPr b="1" sz="300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388900" y="1037725"/>
            <a:ext cx="1722300" cy="3625500"/>
          </a:xfrm>
          <a:prstGeom prst="snip2DiagRect">
            <a:avLst>
              <a:gd fmla="val 0" name="adj1"/>
              <a:gd fmla="val 7966" name="adj2"/>
            </a:avLst>
          </a:prstGeom>
          <a:solidFill>
            <a:srgbClr val="FFFFFF">
              <a:alpha val="0"/>
            </a:srgbClr>
          </a:solidFill>
          <a:ln cap="flat" cmpd="sng" w="15625">
            <a:solidFill>
              <a:srgbClr val="FF9900">
                <a:alpha val="4667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7475" lIns="74950" spcFirstLastPara="1" rIns="74950" wrap="square" tIns="37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9900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ru" sz="1800" u="none" cap="none" strike="noStrike">
                <a:solidFill>
                  <a:srgbClr val="FF9900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Патрушева </a:t>
            </a:r>
            <a:r>
              <a:rPr i="0" lang="ru" sz="1800" u="none" cap="none" strike="noStrike">
                <a:solidFill>
                  <a:srgbClr val="FF9900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Виолетта</a:t>
            </a:r>
            <a:endParaRPr i="0" sz="1800" u="none" cap="none" strike="noStrike">
              <a:solidFill>
                <a:srgbClr val="FF9900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2757812" y="1037725"/>
            <a:ext cx="1722300" cy="3625500"/>
          </a:xfrm>
          <a:prstGeom prst="snip2DiagRect">
            <a:avLst>
              <a:gd fmla="val 0" name="adj1"/>
              <a:gd fmla="val 7966" name="adj2"/>
            </a:avLst>
          </a:prstGeom>
          <a:solidFill>
            <a:srgbClr val="FFFFFF">
              <a:alpha val="0"/>
            </a:srgbClr>
          </a:solidFill>
          <a:ln cap="flat" cmpd="sng" w="15625">
            <a:solidFill>
              <a:srgbClr val="FF9900">
                <a:alpha val="4667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7475" lIns="74950" spcFirstLastPara="1" rIns="74950" wrap="square" tIns="37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Куликова</a:t>
            </a:r>
            <a:endParaRPr b="1" sz="180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Алёна</a:t>
            </a:r>
            <a:endParaRPr b="1" sz="180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5055174" y="1037725"/>
            <a:ext cx="1722300" cy="3625500"/>
          </a:xfrm>
          <a:prstGeom prst="snip2DiagRect">
            <a:avLst>
              <a:gd fmla="val 0" name="adj1"/>
              <a:gd fmla="val 7966" name="adj2"/>
            </a:avLst>
          </a:prstGeom>
          <a:solidFill>
            <a:srgbClr val="FFFFFF">
              <a:alpha val="0"/>
            </a:srgbClr>
          </a:solidFill>
          <a:ln cap="flat" cmpd="sng" w="15625">
            <a:solidFill>
              <a:srgbClr val="FF9900">
                <a:alpha val="4667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7475" lIns="74950" spcFirstLastPara="1" rIns="74950" wrap="square" tIns="37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Берсенев Андрей</a:t>
            </a:r>
            <a:endParaRPr b="1" i="0" sz="1800" u="none" cap="none" strike="noStrike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7279050" y="1037725"/>
            <a:ext cx="1722300" cy="3625500"/>
          </a:xfrm>
          <a:prstGeom prst="snip2DiagRect">
            <a:avLst>
              <a:gd fmla="val 0" name="adj1"/>
              <a:gd fmla="val 7966" name="adj2"/>
            </a:avLst>
          </a:prstGeom>
          <a:solidFill>
            <a:srgbClr val="FFFFFF">
              <a:alpha val="0"/>
            </a:srgbClr>
          </a:solidFill>
          <a:ln cap="flat" cmpd="sng" w="15625">
            <a:solidFill>
              <a:srgbClr val="FF9900">
                <a:alpha val="4667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7475" lIns="74950" spcFirstLastPara="1" rIns="74950" wrap="square" tIns="37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Эшмуродов Азизбек</a:t>
            </a:r>
            <a:endParaRPr b="1" i="0" sz="1800" u="none" cap="none" strike="noStrike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455825" y="2519775"/>
            <a:ext cx="1603500" cy="23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7475" lIns="74950" spcFirstLastPara="1" rIns="74950" wrap="square" tIns="37475">
            <a:normAutofit/>
          </a:bodyPr>
          <a:lstStyle/>
          <a:p>
            <a:pPr indent="-134641" lvl="0" marL="11863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Light"/>
              <a:buChar char="▪"/>
            </a:pPr>
            <a:r>
              <a:rPr lang="ru">
                <a:solidFill>
                  <a:srgbClr val="434343"/>
                </a:solidFill>
                <a:latin typeface="Roboto Light"/>
                <a:ea typeface="Roboto Light"/>
                <a:cs typeface="Roboto Light"/>
                <a:sym typeface="Roboto Light"/>
              </a:rPr>
              <a:t>ML специалист</a:t>
            </a:r>
            <a:endParaRPr>
              <a:solidFill>
                <a:srgbClr val="434343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134641" lvl="0" marL="118633" rtl="0" algn="l">
              <a:lnSpc>
                <a:spcPct val="90000"/>
              </a:lnSpc>
              <a:spcBef>
                <a:spcPts val="517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Light"/>
              <a:buChar char="▪"/>
            </a:pPr>
            <a:r>
              <a:rPr lang="ru">
                <a:solidFill>
                  <a:srgbClr val="434343"/>
                </a:solidFill>
                <a:latin typeface="Roboto Light"/>
                <a:ea typeface="Roboto Light"/>
                <a:cs typeface="Roboto Light"/>
                <a:sym typeface="Roboto Light"/>
              </a:rPr>
              <a:t>@hakloi</a:t>
            </a:r>
            <a:endParaRPr>
              <a:solidFill>
                <a:srgbClr val="43434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2803113" y="2571749"/>
            <a:ext cx="1603500" cy="22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475" lIns="74950" spcFirstLastPara="1" rIns="74950" wrap="square" tIns="37475">
            <a:normAutofit/>
          </a:bodyPr>
          <a:lstStyle/>
          <a:p>
            <a:pPr indent="-134641" lvl="0" marL="11863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Light"/>
              <a:buChar char="▪"/>
            </a:pPr>
            <a:r>
              <a:rPr lang="ru">
                <a:solidFill>
                  <a:srgbClr val="434343"/>
                </a:solidFill>
                <a:latin typeface="Roboto Light"/>
                <a:ea typeface="Roboto Light"/>
                <a:cs typeface="Roboto Light"/>
                <a:sym typeface="Roboto Light"/>
              </a:rPr>
              <a:t>Тимлид, фронтенд, бэкенд, ML </a:t>
            </a:r>
            <a:endParaRPr>
              <a:solidFill>
                <a:srgbClr val="434343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128291" lvl="0" marL="118633" rtl="0" algn="l">
              <a:lnSpc>
                <a:spcPct val="90000"/>
              </a:lnSpc>
              <a:spcBef>
                <a:spcPts val="517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Roboto Light"/>
              <a:buChar char="▪"/>
            </a:pPr>
            <a:r>
              <a:rPr lang="ru" sz="1300">
                <a:solidFill>
                  <a:srgbClr val="434343"/>
                </a:solidFill>
                <a:latin typeface="Roboto Light"/>
                <a:ea typeface="Roboto Light"/>
                <a:cs typeface="Roboto Light"/>
                <a:sym typeface="Roboto Light"/>
              </a:rPr>
              <a:t>@kulikova_alyona</a:t>
            </a:r>
            <a:endParaRPr sz="1300">
              <a:solidFill>
                <a:srgbClr val="43434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5077825" y="2571599"/>
            <a:ext cx="1603500" cy="22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475" lIns="74950" spcFirstLastPara="1" rIns="74950" wrap="square" tIns="37475">
            <a:normAutofit/>
          </a:bodyPr>
          <a:lstStyle/>
          <a:p>
            <a:pPr indent="-134641" lvl="0" marL="118633" rtl="0" algn="l">
              <a:lnSpc>
                <a:spcPct val="90000"/>
              </a:lnSpc>
              <a:spcBef>
                <a:spcPts val="517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Light"/>
              <a:buChar char="▪"/>
            </a:pPr>
            <a:r>
              <a:rPr lang="ru">
                <a:solidFill>
                  <a:srgbClr val="434343"/>
                </a:solidFill>
                <a:latin typeface="Roboto Light"/>
                <a:ea typeface="Roboto Light"/>
                <a:cs typeface="Roboto Light"/>
                <a:sym typeface="Roboto Light"/>
              </a:rPr>
              <a:t>Аналитик данных, DS</a:t>
            </a:r>
            <a:endParaRPr>
              <a:solidFill>
                <a:srgbClr val="434343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134641" lvl="0" marL="118633" rtl="0" algn="l">
              <a:lnSpc>
                <a:spcPct val="90000"/>
              </a:lnSpc>
              <a:spcBef>
                <a:spcPts val="517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Light"/>
              <a:buChar char="▪"/>
            </a:pPr>
            <a:r>
              <a:rPr lang="ru">
                <a:solidFill>
                  <a:srgbClr val="434343"/>
                </a:solidFill>
                <a:latin typeface="Roboto Light"/>
                <a:ea typeface="Roboto Light"/>
                <a:cs typeface="Roboto Light"/>
                <a:sym typeface="Roboto Light"/>
              </a:rPr>
              <a:t>@BerAndrey</a:t>
            </a:r>
            <a:endParaRPr>
              <a:solidFill>
                <a:srgbClr val="43434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7279075" y="2519699"/>
            <a:ext cx="1603500" cy="23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7475" lIns="74950" spcFirstLastPara="1" rIns="74950" wrap="square" tIns="37475">
            <a:normAutofit/>
          </a:bodyPr>
          <a:lstStyle/>
          <a:p>
            <a:pPr indent="-134641" lvl="0" marL="11863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Light"/>
              <a:buChar char="▪"/>
            </a:pPr>
            <a:r>
              <a:rPr lang="ru">
                <a:solidFill>
                  <a:srgbClr val="434343"/>
                </a:solidFill>
                <a:latin typeface="Roboto Light"/>
                <a:ea typeface="Roboto Light"/>
                <a:cs typeface="Roboto Light"/>
                <a:sym typeface="Roboto Light"/>
              </a:rPr>
              <a:t>FullStack разработчик</a:t>
            </a:r>
            <a:endParaRPr>
              <a:solidFill>
                <a:srgbClr val="434343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134641" lvl="0" marL="118633" rtl="0" algn="l">
              <a:lnSpc>
                <a:spcPct val="90000"/>
              </a:lnSpc>
              <a:spcBef>
                <a:spcPts val="517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Light"/>
              <a:buChar char="▪"/>
            </a:pPr>
            <a:r>
              <a:rPr lang="ru">
                <a:solidFill>
                  <a:srgbClr val="434343"/>
                </a:solidFill>
                <a:latin typeface="Roboto Light"/>
                <a:ea typeface="Roboto Light"/>
                <a:cs typeface="Roboto Light"/>
                <a:sym typeface="Roboto Light"/>
              </a:rPr>
              <a:t>@it_is_worth_it</a:t>
            </a:r>
            <a:endParaRPr>
              <a:solidFill>
                <a:srgbClr val="434343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45741" lvl="0" marL="118633" rtl="0" algn="l">
              <a:lnSpc>
                <a:spcPct val="90000"/>
              </a:lnSpc>
              <a:spcBef>
                <a:spcPts val="517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cxnSp>
        <p:nvCxnSpPr>
          <p:cNvPr id="72" name="Google Shape;72;p14"/>
          <p:cNvCxnSpPr/>
          <p:nvPr/>
        </p:nvCxnSpPr>
        <p:spPr>
          <a:xfrm>
            <a:off x="166325" y="404250"/>
            <a:ext cx="0" cy="4743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73" name="Google Shape;73;p14"/>
          <p:cNvCxnSpPr/>
          <p:nvPr/>
        </p:nvCxnSpPr>
        <p:spPr>
          <a:xfrm>
            <a:off x="84850" y="744700"/>
            <a:ext cx="2496900" cy="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222525" y="112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Описание решения</a:t>
            </a:r>
            <a:endParaRPr b="1" sz="300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166325" y="767550"/>
            <a:ext cx="8520600" cy="41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434343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На сайте пользователь может:</a:t>
            </a:r>
            <a:endParaRPr sz="1200">
              <a:solidFill>
                <a:srgbClr val="434343"/>
              </a:solidFill>
              <a:highlight>
                <a:srgbClr val="FFFFFF"/>
              </a:highlight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FF99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Просматривать графики по </a:t>
            </a:r>
            <a:r>
              <a:rPr b="1" lang="ru" sz="1200">
                <a:solidFill>
                  <a:srgbClr val="FF99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четырем</a:t>
            </a:r>
            <a:r>
              <a:rPr b="1" lang="ru" sz="1200">
                <a:solidFill>
                  <a:srgbClr val="FF99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категориям:</a:t>
            </a:r>
            <a:br>
              <a:rPr lang="ru" sz="1200">
                <a:solidFill>
                  <a:srgbClr val="1D1D20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ru" sz="1200">
                <a:solidFill>
                  <a:srgbClr val="1D1D20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	</a:t>
            </a:r>
            <a:r>
              <a:rPr lang="ru" sz="1200">
                <a:solidFill>
                  <a:srgbClr val="434343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— Выгрузка/отгрузка угля</a:t>
            </a:r>
            <a:br>
              <a:rPr lang="ru" sz="1200">
                <a:solidFill>
                  <a:srgbClr val="434343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ru" sz="1200">
                <a:solidFill>
                  <a:srgbClr val="434343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	— Самовозгорания (пожары)</a:t>
            </a:r>
            <a:br>
              <a:rPr lang="ru" sz="1200">
                <a:solidFill>
                  <a:srgbClr val="434343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ru" sz="1200">
                <a:solidFill>
                  <a:srgbClr val="434343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	— Температура в штабелях</a:t>
            </a:r>
            <a:br>
              <a:rPr lang="ru" sz="1200">
                <a:solidFill>
                  <a:srgbClr val="434343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ru" sz="1200">
                <a:solidFill>
                  <a:srgbClr val="434343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	— Погодные условия</a:t>
            </a:r>
            <a:endParaRPr sz="1200">
              <a:solidFill>
                <a:srgbClr val="434343"/>
              </a:solidFill>
              <a:highlight>
                <a:srgbClr val="FFFFFF"/>
              </a:highlight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FF99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Создавать новые графики через диалоговые окна</a:t>
            </a:r>
            <a:br>
              <a:rPr lang="ru" sz="1200">
                <a:solidFill>
                  <a:srgbClr val="1D1D20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ru" sz="1200">
                <a:solidFill>
                  <a:srgbClr val="1D1D20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	</a:t>
            </a:r>
            <a:r>
              <a:rPr lang="ru" sz="1200">
                <a:solidFill>
                  <a:srgbClr val="434343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— выбрать файл, колонку с датой, параметры (ось Y), период и тип графика (линейный, гистограмма и др.)</a:t>
            </a:r>
            <a:endParaRPr sz="1200">
              <a:solidFill>
                <a:srgbClr val="434343"/>
              </a:solidFill>
              <a:highlight>
                <a:srgbClr val="FFFFFF"/>
              </a:highlight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FF99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Загружать новые погодные данные</a:t>
            </a:r>
            <a:r>
              <a:rPr lang="ru" sz="1200">
                <a:solidFill>
                  <a:srgbClr val="1D1D20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 в формате CSV под названием </a:t>
            </a:r>
            <a:r>
              <a:rPr lang="ru" sz="1200">
                <a:solidFill>
                  <a:schemeClr val="lt1"/>
                </a:solidFill>
                <a:highlight>
                  <a:srgbClr val="FF9900"/>
                </a:highlight>
                <a:latin typeface="Roboto Light"/>
                <a:ea typeface="Roboto Light"/>
                <a:cs typeface="Roboto Light"/>
                <a:sym typeface="Roboto Light"/>
              </a:rPr>
              <a:t>weather_data_YYYY.csv</a:t>
            </a:r>
            <a:endParaRPr sz="1200">
              <a:solidFill>
                <a:srgbClr val="1D1D20"/>
              </a:solidFill>
              <a:highlight>
                <a:srgbClr val="FFFFFF"/>
              </a:highlight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FF99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Формировать прогноз риска самовозгорания угля</a:t>
            </a:r>
            <a:br>
              <a:rPr lang="ru" sz="1200">
                <a:solidFill>
                  <a:srgbClr val="1D1D20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ru" sz="1200">
                <a:solidFill>
                  <a:srgbClr val="1D1D20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	</a:t>
            </a:r>
            <a:r>
              <a:rPr lang="ru" sz="1200">
                <a:solidFill>
                  <a:srgbClr val="434343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— загрузить файл с данными штабелей под названием</a:t>
            </a:r>
            <a:r>
              <a:rPr lang="ru" sz="1200">
                <a:solidFill>
                  <a:srgbClr val="1D1D20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ru" sz="1200">
                <a:solidFill>
                  <a:schemeClr val="lt1"/>
                </a:solidFill>
                <a:highlight>
                  <a:srgbClr val="FF9900"/>
                </a:highlight>
                <a:latin typeface="Roboto Light"/>
                <a:ea typeface="Roboto Light"/>
                <a:cs typeface="Roboto Light"/>
                <a:sym typeface="Roboto Light"/>
              </a:rPr>
              <a:t>schedule_for_prediction.csv</a:t>
            </a:r>
            <a:r>
              <a:rPr lang="ru" sz="1200">
                <a:solidFill>
                  <a:srgbClr val="1D1D20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,</a:t>
            </a:r>
            <a:br>
              <a:rPr lang="ru" sz="1200">
                <a:solidFill>
                  <a:srgbClr val="1D1D20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ru" sz="1200">
                <a:solidFill>
                  <a:srgbClr val="1D1D20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	</a:t>
            </a:r>
            <a:r>
              <a:rPr lang="ru" sz="1200">
                <a:solidFill>
                  <a:srgbClr val="434343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— запустить ML-модель,</a:t>
            </a:r>
            <a:br>
              <a:rPr lang="ru" sz="1200">
                <a:solidFill>
                  <a:srgbClr val="434343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ru" sz="1200">
                <a:solidFill>
                  <a:srgbClr val="434343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	— получить результаты с вероятностями и бинарными предсказаниями,</a:t>
            </a:r>
            <a:br>
              <a:rPr lang="ru" sz="1200">
                <a:solidFill>
                  <a:srgbClr val="434343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lang="ru" sz="1200">
                <a:solidFill>
                  <a:srgbClr val="434343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	— скачать отчёт в формате TXT и данные в CSV.</a:t>
            </a:r>
            <a:endParaRPr sz="1200">
              <a:solidFill>
                <a:srgbClr val="434343"/>
              </a:solidFill>
              <a:highlight>
                <a:srgbClr val="FFFFFF"/>
              </a:highlight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FF99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Переобучать модель на актуальных данных</a:t>
            </a:r>
            <a:r>
              <a:rPr lang="ru" sz="1200">
                <a:solidFill>
                  <a:srgbClr val="1D1D20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ru" sz="1200">
                <a:solidFill>
                  <a:srgbClr val="434343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(кнопка «Пересоздать модель»)</a:t>
            </a:r>
            <a:r>
              <a:rPr lang="ru" sz="1200">
                <a:solidFill>
                  <a:srgbClr val="1D1D20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sz="1200">
              <a:solidFill>
                <a:srgbClr val="1D1D20"/>
              </a:solidFill>
              <a:highlight>
                <a:srgbClr val="FFFFFF"/>
              </a:highlight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ru" sz="1200">
                <a:solidFill>
                  <a:srgbClr val="FF99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Автоматически сохранять все настройки графиков</a:t>
            </a:r>
            <a:r>
              <a:rPr lang="ru" sz="1200">
                <a:solidFill>
                  <a:srgbClr val="1D1D20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ru" sz="1200">
                <a:solidFill>
                  <a:srgbClr val="434343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между сеансами (в файле</a:t>
            </a:r>
            <a:r>
              <a:rPr lang="ru" sz="1200">
                <a:solidFill>
                  <a:srgbClr val="1D1D20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ru" sz="1200">
                <a:solidFill>
                  <a:schemeClr val="lt1"/>
                </a:solidFill>
                <a:highlight>
                  <a:srgbClr val="FF9900"/>
                </a:highlight>
                <a:latin typeface="Roboto Light"/>
                <a:ea typeface="Roboto Light"/>
                <a:cs typeface="Roboto Light"/>
                <a:sym typeface="Roboto Light"/>
              </a:rPr>
              <a:t>schedule.json</a:t>
            </a:r>
            <a:r>
              <a:rPr lang="ru" sz="1200">
                <a:solidFill>
                  <a:srgbClr val="1D1D20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).</a:t>
            </a:r>
            <a:endParaRPr sz="1200">
              <a:solidFill>
                <a:srgbClr val="1D1D20"/>
              </a:solidFill>
              <a:highlight>
                <a:srgbClr val="FFFFFF"/>
              </a:highlight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b="1" lang="ru" sz="1200">
                <a:solidFill>
                  <a:srgbClr val="FF99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Возвращаться на главную страницу</a:t>
            </a:r>
            <a:r>
              <a:rPr lang="ru" sz="1200">
                <a:solidFill>
                  <a:srgbClr val="1D1D20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ru" sz="1200">
                <a:solidFill>
                  <a:srgbClr val="434343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в любой момент.</a:t>
            </a:r>
            <a:endParaRPr sz="1200">
              <a:solidFill>
                <a:srgbClr val="43434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0" name="Google Shape;8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cxnSp>
        <p:nvCxnSpPr>
          <p:cNvPr id="81" name="Google Shape;81;p15"/>
          <p:cNvCxnSpPr/>
          <p:nvPr/>
        </p:nvCxnSpPr>
        <p:spPr>
          <a:xfrm>
            <a:off x="166325" y="404250"/>
            <a:ext cx="0" cy="4743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82" name="Google Shape;82;p15"/>
          <p:cNvCxnSpPr/>
          <p:nvPr/>
        </p:nvCxnSpPr>
        <p:spPr>
          <a:xfrm>
            <a:off x="84850" y="744700"/>
            <a:ext cx="2496900" cy="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8800" y="828890"/>
            <a:ext cx="4773349" cy="411728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>
            <p:ph idx="4294967295" type="title"/>
          </p:nvPr>
        </p:nvSpPr>
        <p:spPr>
          <a:xfrm>
            <a:off x="222525" y="112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Главная страница</a:t>
            </a:r>
            <a:endParaRPr sz="1400">
              <a:solidFill>
                <a:srgbClr val="FF99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90" name="Google Shape;90;p16"/>
          <p:cNvCxnSpPr/>
          <p:nvPr/>
        </p:nvCxnSpPr>
        <p:spPr>
          <a:xfrm>
            <a:off x="166325" y="404250"/>
            <a:ext cx="0" cy="4743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91" name="Google Shape;91;p16"/>
          <p:cNvCxnSpPr/>
          <p:nvPr/>
        </p:nvCxnSpPr>
        <p:spPr>
          <a:xfrm>
            <a:off x="84850" y="744700"/>
            <a:ext cx="2496900" cy="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92" name="Google Shape;92;p16"/>
          <p:cNvSpPr txBox="1"/>
          <p:nvPr/>
        </p:nvSpPr>
        <p:spPr>
          <a:xfrm>
            <a:off x="7092150" y="4607475"/>
            <a:ext cx="142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ru" sz="1000">
                <a:solidFill>
                  <a:srgbClr val="999999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* </a:t>
            </a:r>
            <a:r>
              <a:rPr lang="ru" sz="1000">
                <a:solidFill>
                  <a:srgbClr val="999999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Часть страницы</a:t>
            </a:r>
            <a:endParaRPr sz="1000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98" name="Google Shape;98;p17"/>
          <p:cNvSpPr txBox="1"/>
          <p:nvPr>
            <p:ph idx="4294967295" type="title"/>
          </p:nvPr>
        </p:nvSpPr>
        <p:spPr>
          <a:xfrm>
            <a:off x="222525" y="112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Главная страница </a:t>
            </a:r>
            <a:r>
              <a:rPr lang="ru" sz="1400">
                <a:solidFill>
                  <a:srgbClr val="FF9900"/>
                </a:solidFill>
                <a:latin typeface="Roboto Light"/>
                <a:ea typeface="Roboto Light"/>
                <a:cs typeface="Roboto Light"/>
                <a:sym typeface="Roboto Light"/>
              </a:rPr>
              <a:t>(секция “Метеоданные”)</a:t>
            </a:r>
            <a:endParaRPr sz="1400">
              <a:solidFill>
                <a:srgbClr val="FF99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99" name="Google Shape;99;p17"/>
          <p:cNvCxnSpPr/>
          <p:nvPr/>
        </p:nvCxnSpPr>
        <p:spPr>
          <a:xfrm>
            <a:off x="166325" y="404250"/>
            <a:ext cx="0" cy="4743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100" name="Google Shape;100;p17"/>
          <p:cNvCxnSpPr/>
          <p:nvPr/>
        </p:nvCxnSpPr>
        <p:spPr>
          <a:xfrm>
            <a:off x="84850" y="744700"/>
            <a:ext cx="2496900" cy="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  <p:pic>
        <p:nvPicPr>
          <p:cNvPr id="101" name="Google Shape;10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900" y="1065675"/>
            <a:ext cx="7404076" cy="333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 txBox="1"/>
          <p:nvPr/>
        </p:nvSpPr>
        <p:spPr>
          <a:xfrm>
            <a:off x="6199625" y="4690675"/>
            <a:ext cx="2360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ru" sz="1000">
                <a:solidFill>
                  <a:srgbClr val="B7B7B7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* Метеоданные на 2021, 2016, 2019</a:t>
            </a:r>
            <a:endParaRPr sz="1000">
              <a:solidFill>
                <a:srgbClr val="B7B7B7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8" name="Google Shape;108;p18"/>
          <p:cNvSpPr txBox="1"/>
          <p:nvPr>
            <p:ph idx="4294967295" type="title"/>
          </p:nvPr>
        </p:nvSpPr>
        <p:spPr>
          <a:xfrm>
            <a:off x="222525" y="112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Главная страница </a:t>
            </a:r>
            <a:r>
              <a:rPr lang="ru" sz="1400">
                <a:solidFill>
                  <a:srgbClr val="FF9900"/>
                </a:solidFill>
                <a:latin typeface="Roboto Light"/>
                <a:ea typeface="Roboto Light"/>
                <a:cs typeface="Roboto Light"/>
                <a:sym typeface="Roboto Light"/>
              </a:rPr>
              <a:t>(</a:t>
            </a:r>
            <a:r>
              <a:rPr lang="ru" sz="1400">
                <a:solidFill>
                  <a:srgbClr val="FF9900"/>
                </a:solidFill>
                <a:latin typeface="Roboto Light"/>
                <a:ea typeface="Roboto Light"/>
                <a:cs typeface="Roboto Light"/>
                <a:sym typeface="Roboto Light"/>
              </a:rPr>
              <a:t>секция “Выгрузка и отгрузка”</a:t>
            </a:r>
            <a:r>
              <a:rPr lang="ru" sz="1400">
                <a:solidFill>
                  <a:srgbClr val="FF9900"/>
                </a:solidFill>
                <a:latin typeface="Roboto Light"/>
                <a:ea typeface="Roboto Light"/>
                <a:cs typeface="Roboto Light"/>
                <a:sym typeface="Roboto Light"/>
              </a:rPr>
              <a:t>)</a:t>
            </a:r>
            <a:endParaRPr sz="1400">
              <a:solidFill>
                <a:srgbClr val="FF99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109" name="Google Shape;109;p18"/>
          <p:cNvCxnSpPr/>
          <p:nvPr/>
        </p:nvCxnSpPr>
        <p:spPr>
          <a:xfrm>
            <a:off x="166325" y="404250"/>
            <a:ext cx="0" cy="4743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18"/>
          <p:cNvCxnSpPr/>
          <p:nvPr/>
        </p:nvCxnSpPr>
        <p:spPr>
          <a:xfrm>
            <a:off x="84850" y="744700"/>
            <a:ext cx="2496900" cy="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  <p:pic>
        <p:nvPicPr>
          <p:cNvPr id="111" name="Google Shape;1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527" y="1102875"/>
            <a:ext cx="2807725" cy="348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/>
        </p:nvSpPr>
        <p:spPr>
          <a:xfrm>
            <a:off x="438300" y="4690675"/>
            <a:ext cx="321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ru" sz="1000">
                <a:solidFill>
                  <a:srgbClr val="B7B7B7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Окно для создания графика “Выгрузка и отгрузка”</a:t>
            </a:r>
            <a:endParaRPr sz="1000">
              <a:solidFill>
                <a:srgbClr val="B7B7B7"/>
              </a:solidFill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4606200" y="4589200"/>
            <a:ext cx="379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ru" sz="1000">
                <a:solidFill>
                  <a:srgbClr val="B7B7B7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Созданный </a:t>
            </a:r>
            <a:r>
              <a:rPr lang="ru" sz="1000">
                <a:solidFill>
                  <a:srgbClr val="B7B7B7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график во вкладке “Выгрузка и отгрузка”</a:t>
            </a:r>
            <a:endParaRPr sz="1000">
              <a:solidFill>
                <a:srgbClr val="B7B7B7"/>
              </a:solidFill>
            </a:endParaRPr>
          </a:p>
        </p:txBody>
      </p:sp>
      <p:pic>
        <p:nvPicPr>
          <p:cNvPr id="114" name="Google Shape;11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7202" y="1472575"/>
            <a:ext cx="5563949" cy="2430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20" name="Google Shape;120;p19"/>
          <p:cNvSpPr txBox="1"/>
          <p:nvPr>
            <p:ph idx="4294967295" type="title"/>
          </p:nvPr>
        </p:nvSpPr>
        <p:spPr>
          <a:xfrm>
            <a:off x="222525" y="112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Главная страница </a:t>
            </a:r>
            <a:r>
              <a:rPr lang="ru" sz="1400">
                <a:solidFill>
                  <a:srgbClr val="FF9900"/>
                </a:solidFill>
                <a:latin typeface="Roboto Light"/>
                <a:ea typeface="Roboto Light"/>
                <a:cs typeface="Roboto Light"/>
                <a:sym typeface="Roboto Light"/>
              </a:rPr>
              <a:t>(секция “</a:t>
            </a:r>
            <a:r>
              <a:rPr lang="ru" sz="1400">
                <a:solidFill>
                  <a:srgbClr val="FF9900"/>
                </a:solidFill>
                <a:latin typeface="Roboto Light"/>
                <a:ea typeface="Roboto Light"/>
                <a:cs typeface="Roboto Light"/>
                <a:sym typeface="Roboto Light"/>
              </a:rPr>
              <a:t>Самовозгорание</a:t>
            </a:r>
            <a:r>
              <a:rPr lang="ru" sz="1400">
                <a:solidFill>
                  <a:srgbClr val="FF9900"/>
                </a:solidFill>
                <a:latin typeface="Roboto Light"/>
                <a:ea typeface="Roboto Light"/>
                <a:cs typeface="Roboto Light"/>
                <a:sym typeface="Roboto Light"/>
              </a:rPr>
              <a:t>”)</a:t>
            </a:r>
            <a:endParaRPr sz="1400">
              <a:solidFill>
                <a:srgbClr val="FF99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121" name="Google Shape;121;p19"/>
          <p:cNvCxnSpPr/>
          <p:nvPr/>
        </p:nvCxnSpPr>
        <p:spPr>
          <a:xfrm>
            <a:off x="166325" y="404250"/>
            <a:ext cx="0" cy="4743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9"/>
          <p:cNvCxnSpPr/>
          <p:nvPr/>
        </p:nvCxnSpPr>
        <p:spPr>
          <a:xfrm>
            <a:off x="84850" y="744700"/>
            <a:ext cx="2496900" cy="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123" name="Google Shape;123;p19"/>
          <p:cNvSpPr txBox="1"/>
          <p:nvPr/>
        </p:nvSpPr>
        <p:spPr>
          <a:xfrm>
            <a:off x="438300" y="4690675"/>
            <a:ext cx="321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ru" sz="1000">
                <a:solidFill>
                  <a:srgbClr val="B7B7B7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Окно для создания графика “Самовозгорание”</a:t>
            </a:r>
            <a:endParaRPr sz="1000">
              <a:solidFill>
                <a:srgbClr val="B7B7B7"/>
              </a:solidFill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4606200" y="4589200"/>
            <a:ext cx="379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ru" sz="1000">
                <a:solidFill>
                  <a:srgbClr val="B7B7B7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Созданный график во вкладке “</a:t>
            </a:r>
            <a:r>
              <a:rPr lang="ru" sz="1000">
                <a:solidFill>
                  <a:srgbClr val="B7B7B7"/>
                </a:solidFill>
                <a:highlight>
                  <a:schemeClr val="lt1"/>
                </a:highlight>
                <a:latin typeface="Roboto Light"/>
                <a:ea typeface="Roboto Light"/>
                <a:cs typeface="Roboto Light"/>
                <a:sym typeface="Roboto Light"/>
              </a:rPr>
              <a:t>Самовозгорание</a:t>
            </a:r>
            <a:r>
              <a:rPr lang="ru" sz="1000">
                <a:solidFill>
                  <a:srgbClr val="B7B7B7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”</a:t>
            </a:r>
            <a:endParaRPr sz="1000">
              <a:solidFill>
                <a:srgbClr val="B7B7B7"/>
              </a:solidFill>
            </a:endParaRPr>
          </a:p>
        </p:txBody>
      </p:sp>
      <p:pic>
        <p:nvPicPr>
          <p:cNvPr id="125" name="Google Shape;1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075" y="888700"/>
            <a:ext cx="2868050" cy="37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6950" y="1346175"/>
            <a:ext cx="5433075" cy="2246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32" name="Google Shape;132;p20"/>
          <p:cNvSpPr txBox="1"/>
          <p:nvPr>
            <p:ph idx="4294967295" type="title"/>
          </p:nvPr>
        </p:nvSpPr>
        <p:spPr>
          <a:xfrm>
            <a:off x="222525" y="112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Главная страница </a:t>
            </a:r>
            <a:r>
              <a:rPr lang="ru" sz="1400">
                <a:solidFill>
                  <a:srgbClr val="FF9900"/>
                </a:solidFill>
                <a:latin typeface="Roboto Light"/>
                <a:ea typeface="Roboto Light"/>
                <a:cs typeface="Roboto Light"/>
                <a:sym typeface="Roboto Light"/>
              </a:rPr>
              <a:t>(секция “</a:t>
            </a:r>
            <a:r>
              <a:rPr lang="ru" sz="1400">
                <a:solidFill>
                  <a:srgbClr val="FF9900"/>
                </a:solidFill>
                <a:latin typeface="Roboto Light"/>
                <a:ea typeface="Roboto Light"/>
                <a:cs typeface="Roboto Light"/>
                <a:sym typeface="Roboto Light"/>
              </a:rPr>
              <a:t>Температура</a:t>
            </a:r>
            <a:r>
              <a:rPr lang="ru" sz="1400">
                <a:solidFill>
                  <a:srgbClr val="FF9900"/>
                </a:solidFill>
                <a:latin typeface="Roboto Light"/>
                <a:ea typeface="Roboto Light"/>
                <a:cs typeface="Roboto Light"/>
                <a:sym typeface="Roboto Light"/>
              </a:rPr>
              <a:t>”)</a:t>
            </a:r>
            <a:endParaRPr sz="1400">
              <a:solidFill>
                <a:srgbClr val="FF99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133" name="Google Shape;133;p20"/>
          <p:cNvCxnSpPr/>
          <p:nvPr/>
        </p:nvCxnSpPr>
        <p:spPr>
          <a:xfrm>
            <a:off x="166325" y="404250"/>
            <a:ext cx="0" cy="4743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134" name="Google Shape;134;p20"/>
          <p:cNvCxnSpPr/>
          <p:nvPr/>
        </p:nvCxnSpPr>
        <p:spPr>
          <a:xfrm>
            <a:off x="84850" y="744700"/>
            <a:ext cx="2496900" cy="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135" name="Google Shape;135;p20"/>
          <p:cNvSpPr txBox="1"/>
          <p:nvPr/>
        </p:nvSpPr>
        <p:spPr>
          <a:xfrm>
            <a:off x="438300" y="4690675"/>
            <a:ext cx="321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ru" sz="1000">
                <a:solidFill>
                  <a:srgbClr val="B7B7B7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Окно для создания графика “Температура”</a:t>
            </a:r>
            <a:endParaRPr sz="1000">
              <a:solidFill>
                <a:srgbClr val="B7B7B7"/>
              </a:solidFill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4606200" y="4589200"/>
            <a:ext cx="379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ru" sz="1000">
                <a:solidFill>
                  <a:srgbClr val="B7B7B7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Созданный график во вкладке “</a:t>
            </a:r>
            <a:r>
              <a:rPr lang="ru" sz="1000">
                <a:solidFill>
                  <a:srgbClr val="B7B7B7"/>
                </a:solidFill>
                <a:highlight>
                  <a:schemeClr val="lt1"/>
                </a:highlight>
                <a:latin typeface="Roboto Light"/>
                <a:ea typeface="Roboto Light"/>
                <a:cs typeface="Roboto Light"/>
                <a:sym typeface="Roboto Light"/>
              </a:rPr>
              <a:t>Температура</a:t>
            </a:r>
            <a:r>
              <a:rPr lang="ru" sz="1000">
                <a:solidFill>
                  <a:srgbClr val="B7B7B7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”</a:t>
            </a:r>
            <a:endParaRPr sz="1000">
              <a:solidFill>
                <a:srgbClr val="B7B7B7"/>
              </a:solidFill>
            </a:endParaRPr>
          </a:p>
        </p:txBody>
      </p:sp>
      <p:pic>
        <p:nvPicPr>
          <p:cNvPr id="137" name="Google Shape;13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9475" y="1259024"/>
            <a:ext cx="5117699" cy="254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225" y="931725"/>
            <a:ext cx="2854671" cy="37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44" name="Google Shape;144;p21"/>
          <p:cNvSpPr txBox="1"/>
          <p:nvPr>
            <p:ph idx="4294967295" type="title"/>
          </p:nvPr>
        </p:nvSpPr>
        <p:spPr>
          <a:xfrm>
            <a:off x="222525" y="112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Главная страница </a:t>
            </a:r>
            <a:r>
              <a:rPr lang="ru" sz="1400">
                <a:solidFill>
                  <a:srgbClr val="FF9900"/>
                </a:solidFill>
                <a:latin typeface="Roboto Light"/>
                <a:ea typeface="Roboto Light"/>
                <a:cs typeface="Roboto Light"/>
                <a:sym typeface="Roboto Light"/>
              </a:rPr>
              <a:t>(секция “</a:t>
            </a:r>
            <a:r>
              <a:rPr lang="ru" sz="1400">
                <a:solidFill>
                  <a:srgbClr val="FF9900"/>
                </a:solidFill>
                <a:latin typeface="Roboto Light"/>
                <a:ea typeface="Roboto Light"/>
                <a:cs typeface="Roboto Light"/>
                <a:sym typeface="Roboto Light"/>
              </a:rPr>
              <a:t>Погода</a:t>
            </a:r>
            <a:r>
              <a:rPr lang="ru" sz="1400">
                <a:solidFill>
                  <a:srgbClr val="FF9900"/>
                </a:solidFill>
                <a:latin typeface="Roboto Light"/>
                <a:ea typeface="Roboto Light"/>
                <a:cs typeface="Roboto Light"/>
                <a:sym typeface="Roboto Light"/>
              </a:rPr>
              <a:t>”)</a:t>
            </a:r>
            <a:endParaRPr sz="1400">
              <a:solidFill>
                <a:srgbClr val="FF99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145" name="Google Shape;145;p21"/>
          <p:cNvCxnSpPr/>
          <p:nvPr/>
        </p:nvCxnSpPr>
        <p:spPr>
          <a:xfrm>
            <a:off x="166325" y="404250"/>
            <a:ext cx="0" cy="4743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146" name="Google Shape;146;p21"/>
          <p:cNvCxnSpPr/>
          <p:nvPr/>
        </p:nvCxnSpPr>
        <p:spPr>
          <a:xfrm>
            <a:off x="84850" y="744700"/>
            <a:ext cx="2496900" cy="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147" name="Google Shape;147;p21"/>
          <p:cNvSpPr txBox="1"/>
          <p:nvPr/>
        </p:nvSpPr>
        <p:spPr>
          <a:xfrm>
            <a:off x="438300" y="4690675"/>
            <a:ext cx="321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ru" sz="1000">
                <a:solidFill>
                  <a:srgbClr val="B7B7B7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Окно для создания графика “Погода”</a:t>
            </a:r>
            <a:endParaRPr sz="1000">
              <a:solidFill>
                <a:srgbClr val="B7B7B7"/>
              </a:solidFill>
            </a:endParaRPr>
          </a:p>
        </p:txBody>
      </p:sp>
      <p:sp>
        <p:nvSpPr>
          <p:cNvPr id="148" name="Google Shape;148;p21"/>
          <p:cNvSpPr txBox="1"/>
          <p:nvPr/>
        </p:nvSpPr>
        <p:spPr>
          <a:xfrm>
            <a:off x="4606200" y="4589200"/>
            <a:ext cx="379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ru" sz="1000">
                <a:solidFill>
                  <a:srgbClr val="B7B7B7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Созданный график во вкладке “</a:t>
            </a:r>
            <a:r>
              <a:rPr lang="ru" sz="1000">
                <a:solidFill>
                  <a:srgbClr val="B7B7B7"/>
                </a:solidFill>
                <a:highlight>
                  <a:schemeClr val="lt1"/>
                </a:highlight>
                <a:latin typeface="Roboto Light"/>
                <a:ea typeface="Roboto Light"/>
                <a:cs typeface="Roboto Light"/>
                <a:sym typeface="Roboto Light"/>
              </a:rPr>
              <a:t>Погода</a:t>
            </a:r>
            <a:r>
              <a:rPr lang="ru" sz="1000">
                <a:solidFill>
                  <a:srgbClr val="B7B7B7"/>
                </a:solidFill>
                <a:highlight>
                  <a:srgbClr val="FFFFFF"/>
                </a:highlight>
                <a:latin typeface="Roboto Light"/>
                <a:ea typeface="Roboto Light"/>
                <a:cs typeface="Roboto Light"/>
                <a:sym typeface="Roboto Light"/>
              </a:rPr>
              <a:t>”</a:t>
            </a:r>
            <a:endParaRPr sz="1000">
              <a:solidFill>
                <a:srgbClr val="B7B7B7"/>
              </a:solidFill>
            </a:endParaRPr>
          </a:p>
        </p:txBody>
      </p:sp>
      <p:pic>
        <p:nvPicPr>
          <p:cNvPr id="149" name="Google Shape;14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950" y="962725"/>
            <a:ext cx="2726684" cy="37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9584" y="1299425"/>
            <a:ext cx="5831566" cy="2865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56" name="Google Shape;156;p22"/>
          <p:cNvSpPr txBox="1"/>
          <p:nvPr>
            <p:ph idx="4294967295" type="title"/>
          </p:nvPr>
        </p:nvSpPr>
        <p:spPr>
          <a:xfrm>
            <a:off x="222525" y="112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Главная страница </a:t>
            </a:r>
            <a:r>
              <a:rPr lang="ru" sz="1400">
                <a:solidFill>
                  <a:srgbClr val="FF9900"/>
                </a:solidFill>
                <a:latin typeface="Roboto Light"/>
                <a:ea typeface="Roboto Light"/>
                <a:cs typeface="Roboto Light"/>
                <a:sym typeface="Roboto Light"/>
              </a:rPr>
              <a:t>(</a:t>
            </a:r>
            <a:r>
              <a:rPr lang="ru" sz="1400">
                <a:solidFill>
                  <a:srgbClr val="FF9900"/>
                </a:solidFill>
                <a:latin typeface="Roboto Light"/>
                <a:ea typeface="Roboto Light"/>
                <a:cs typeface="Roboto Light"/>
                <a:sym typeface="Roboto Light"/>
              </a:rPr>
              <a:t>Получение прогноза</a:t>
            </a:r>
            <a:r>
              <a:rPr lang="ru" sz="1400">
                <a:solidFill>
                  <a:srgbClr val="FF9900"/>
                </a:solidFill>
                <a:latin typeface="Roboto Light"/>
                <a:ea typeface="Roboto Light"/>
                <a:cs typeface="Roboto Light"/>
                <a:sym typeface="Roboto Light"/>
              </a:rPr>
              <a:t>)</a:t>
            </a:r>
            <a:endParaRPr sz="1400">
              <a:solidFill>
                <a:srgbClr val="FF99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157" name="Google Shape;157;p22"/>
          <p:cNvCxnSpPr/>
          <p:nvPr/>
        </p:nvCxnSpPr>
        <p:spPr>
          <a:xfrm>
            <a:off x="166325" y="404250"/>
            <a:ext cx="0" cy="4743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22"/>
          <p:cNvCxnSpPr/>
          <p:nvPr/>
        </p:nvCxnSpPr>
        <p:spPr>
          <a:xfrm>
            <a:off x="84850" y="744700"/>
            <a:ext cx="2496900" cy="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  <p:pic>
        <p:nvPicPr>
          <p:cNvPr id="159" name="Google Shape;15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6175" y="878550"/>
            <a:ext cx="5573294" cy="4153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/>
          <p:nvPr>
            <p:ph type="title"/>
          </p:nvPr>
        </p:nvSpPr>
        <p:spPr>
          <a:xfrm>
            <a:off x="258250" y="112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Техническая проработка решения</a:t>
            </a:r>
            <a:endParaRPr b="1" sz="300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23"/>
          <p:cNvSpPr txBox="1"/>
          <p:nvPr>
            <p:ph idx="1" type="body"/>
          </p:nvPr>
        </p:nvSpPr>
        <p:spPr>
          <a:xfrm>
            <a:off x="5787850" y="1300300"/>
            <a:ext cx="2991000" cy="379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* </a:t>
            </a:r>
            <a:r>
              <a:rPr lang="ru" sz="1400">
                <a:latin typeface="Roboto Light"/>
                <a:ea typeface="Roboto Light"/>
                <a:cs typeface="Roboto Light"/>
                <a:sym typeface="Roboto Light"/>
              </a:rPr>
              <a:t>Задача подразумевает, что таргет </a:t>
            </a:r>
            <a:r>
              <a:rPr i="1" lang="ru" sz="1400">
                <a:latin typeface="Roboto Light"/>
                <a:ea typeface="Roboto Light"/>
                <a:cs typeface="Roboto Light"/>
                <a:sym typeface="Roboto Light"/>
              </a:rPr>
              <a:t>y_3d </a:t>
            </a:r>
            <a:r>
              <a:rPr lang="ru" sz="1400">
                <a:latin typeface="Roboto Light"/>
                <a:ea typeface="Roboto Light"/>
                <a:cs typeface="Roboto Light"/>
                <a:sym typeface="Roboto Light"/>
              </a:rPr>
              <a:t>имеет два варианта </a:t>
            </a:r>
            <a:r>
              <a:rPr i="1" lang="ru" sz="1400">
                <a:latin typeface="Roboto Light"/>
                <a:ea typeface="Roboto Light"/>
                <a:cs typeface="Roboto Light"/>
                <a:sym typeface="Roboto Light"/>
              </a:rPr>
              <a:t>True/False</a:t>
            </a:r>
            <a:r>
              <a:rPr lang="ru" sz="1400">
                <a:latin typeface="Roboto Light"/>
                <a:ea typeface="Roboto Light"/>
                <a:cs typeface="Roboto Light"/>
                <a:sym typeface="Roboto Light"/>
              </a:rPr>
              <a:t>, что подталкивает нас на </a:t>
            </a:r>
            <a:r>
              <a:rPr i="1" lang="ru" sz="1400">
                <a:latin typeface="Roboto Light"/>
                <a:ea typeface="Roboto Light"/>
                <a:cs typeface="Roboto Light"/>
                <a:sym typeface="Roboto Light"/>
              </a:rPr>
              <a:t>binary classification</a:t>
            </a:r>
            <a:r>
              <a:rPr lang="ru" sz="1400">
                <a:latin typeface="Roboto Light"/>
                <a:ea typeface="Roboto Light"/>
                <a:cs typeface="Roboto Light"/>
                <a:sym typeface="Roboto Light"/>
              </a:rPr>
              <a:t> решение </a:t>
            </a:r>
            <a:endParaRPr sz="14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66" name="Google Shape;16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graphicFrame>
        <p:nvGraphicFramePr>
          <p:cNvPr id="167" name="Google Shape;167;p23"/>
          <p:cNvGraphicFramePr/>
          <p:nvPr/>
        </p:nvGraphicFramePr>
        <p:xfrm>
          <a:off x="450275" y="1397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{CE6CF807-A415-47F1-879F-26BB6CB99823}</a:tableStyleId>
              </a:tblPr>
              <a:tblGrid>
                <a:gridCol w="1345075"/>
                <a:gridCol w="3640125"/>
              </a:tblGrid>
              <a:tr h="564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ru" sz="180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Backend</a:t>
                      </a:r>
                      <a:endParaRPr b="1" sz="180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2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Python</a:t>
                      </a:r>
                      <a:endParaRPr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0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80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Frontend</a:t>
                      </a:r>
                      <a:endParaRPr b="1" sz="180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2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Python/streamlit</a:t>
                      </a:r>
                      <a:endParaRPr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80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ML</a:t>
                      </a:r>
                      <a:endParaRPr b="1" sz="180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2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Python, pandas, numpy, scikit-learn, matpoltlib</a:t>
                      </a:r>
                      <a:endParaRPr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80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Модель</a:t>
                      </a:r>
                      <a:r>
                        <a:rPr lang="ru" sz="180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*</a:t>
                      </a:r>
                      <a:endParaRPr sz="180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>
                          <a:solidFill>
                            <a:schemeClr val="dk2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RandomForestClassifier</a:t>
                      </a:r>
                      <a:endParaRPr>
                        <a:solidFill>
                          <a:schemeClr val="dk2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68" name="Google Shape;168;p23"/>
          <p:cNvCxnSpPr/>
          <p:nvPr/>
        </p:nvCxnSpPr>
        <p:spPr>
          <a:xfrm>
            <a:off x="5587500" y="1300300"/>
            <a:ext cx="0" cy="34272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23"/>
          <p:cNvCxnSpPr/>
          <p:nvPr/>
        </p:nvCxnSpPr>
        <p:spPr>
          <a:xfrm>
            <a:off x="166325" y="404250"/>
            <a:ext cx="0" cy="4743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23"/>
          <p:cNvCxnSpPr/>
          <p:nvPr/>
        </p:nvCxnSpPr>
        <p:spPr>
          <a:xfrm>
            <a:off x="84850" y="744700"/>
            <a:ext cx="2496900" cy="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/>
          <p:nvPr>
            <p:ph type="title"/>
          </p:nvPr>
        </p:nvSpPr>
        <p:spPr>
          <a:xfrm>
            <a:off x="252700" y="96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9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Аналитика</a:t>
            </a:r>
            <a:r>
              <a:rPr b="1" lang="ru" sz="3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14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для прогнозирования самовозгорания угля</a:t>
            </a:r>
            <a:endParaRPr sz="140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cxnSp>
        <p:nvCxnSpPr>
          <p:cNvPr id="177" name="Google Shape;177;p24"/>
          <p:cNvCxnSpPr/>
          <p:nvPr/>
        </p:nvCxnSpPr>
        <p:spPr>
          <a:xfrm>
            <a:off x="166325" y="412675"/>
            <a:ext cx="0" cy="4743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24"/>
          <p:cNvCxnSpPr/>
          <p:nvPr/>
        </p:nvCxnSpPr>
        <p:spPr>
          <a:xfrm>
            <a:off x="84850" y="753125"/>
            <a:ext cx="2496900" cy="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179" name="Google Shape;179;p24"/>
          <p:cNvSpPr txBox="1"/>
          <p:nvPr/>
        </p:nvSpPr>
        <p:spPr>
          <a:xfrm>
            <a:off x="166325" y="920225"/>
            <a:ext cx="47895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Цель анализа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- Оценить объемы и динамику грузов по складам и штабелям</a:t>
            </a:r>
            <a:endParaRPr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- Изучить температурный режим штабелей и риски перегрева</a:t>
            </a:r>
            <a:endParaRPr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- Проверить качество данных перед дальнейшим моделированием</a:t>
            </a:r>
            <a:endParaRPr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Используемые источники</a:t>
            </a:r>
            <a:endParaRPr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- fires.csv – акты по штабелям (формирование / события, ~500 строк)</a:t>
            </a:r>
            <a:endParaRPr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- supplies.csv – логистика склад-судно (несколько тысяч записей)</a:t>
            </a:r>
            <a:endParaRPr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- temperature.csv – измерения максимальной температуры (~4 тыс. измерений)</a:t>
            </a:r>
            <a:endParaRPr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80" name="Google Shape;180;p24"/>
          <p:cNvSpPr txBox="1"/>
          <p:nvPr/>
        </p:nvSpPr>
        <p:spPr>
          <a:xfrm>
            <a:off x="5692650" y="4200250"/>
            <a:ext cx="29298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920">
                <a:solidFill>
                  <a:srgbClr val="434343"/>
                </a:solidFill>
                <a:latin typeface="Roboto Light"/>
                <a:ea typeface="Roboto Light"/>
                <a:cs typeface="Roboto Light"/>
                <a:sym typeface="Roboto Light"/>
              </a:rPr>
              <a:t>https://colab.research.google.com/drive/1f0MnJOH25du1Ez8OdfwCaZl2LLVvoxQf#scrollTo=dfda01d8</a:t>
            </a:r>
            <a:endParaRPr sz="1000">
              <a:solidFill>
                <a:srgbClr val="43434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81" name="Google Shape;181;p24"/>
          <p:cNvSpPr txBox="1"/>
          <p:nvPr/>
        </p:nvSpPr>
        <p:spPr>
          <a:xfrm>
            <a:off x="5692650" y="2472063"/>
            <a:ext cx="30000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132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Анализ EDA </a:t>
            </a:r>
            <a:r>
              <a:rPr lang="ru" sz="132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в Colab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82" name="Google Shape;18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3950" y="2997225"/>
            <a:ext cx="1189450" cy="1203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183;p24"/>
          <p:cNvCxnSpPr/>
          <p:nvPr/>
        </p:nvCxnSpPr>
        <p:spPr>
          <a:xfrm>
            <a:off x="5520950" y="2571750"/>
            <a:ext cx="0" cy="18201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 txBox="1"/>
          <p:nvPr>
            <p:ph type="title"/>
          </p:nvPr>
        </p:nvSpPr>
        <p:spPr>
          <a:xfrm>
            <a:off x="228325" y="102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9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Аналитика</a:t>
            </a:r>
            <a:r>
              <a:rPr b="1" lang="ru" sz="3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14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для прогнозирования самовозгорания угля</a:t>
            </a:r>
            <a:endParaRPr b="1" sz="300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90" name="Google Shape;190;p25"/>
          <p:cNvSpPr txBox="1"/>
          <p:nvPr/>
        </p:nvSpPr>
        <p:spPr>
          <a:xfrm>
            <a:off x="311700" y="1232800"/>
            <a:ext cx="101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25"/>
          <p:cNvSpPr txBox="1"/>
          <p:nvPr/>
        </p:nvSpPr>
        <p:spPr>
          <a:xfrm>
            <a:off x="781200" y="1629775"/>
            <a:ext cx="758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92" name="Google Shape;192;p25"/>
          <p:cNvSpPr txBox="1"/>
          <p:nvPr/>
        </p:nvSpPr>
        <p:spPr>
          <a:xfrm>
            <a:off x="311700" y="2029975"/>
            <a:ext cx="160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25"/>
          <p:cNvSpPr txBox="1"/>
          <p:nvPr/>
        </p:nvSpPr>
        <p:spPr>
          <a:xfrm>
            <a:off x="311700" y="878550"/>
            <a:ext cx="8623200" cy="3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2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• Структура и </a:t>
            </a:r>
            <a:r>
              <a:rPr b="1" lang="ru" sz="132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объемы</a:t>
            </a:r>
            <a:endParaRPr b="1" sz="132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499" lvl="0" marL="899999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-"/>
            </a:pPr>
            <a:r>
              <a:rPr lang="ru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supplies.csv – основной и самый полный слой; склады 3 и 4 дают основную массу грузов</a:t>
            </a:r>
            <a:endParaRPr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17499" lvl="0" marL="899999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-"/>
            </a:pPr>
            <a:r>
              <a:rPr lang="ru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f</a:t>
            </a:r>
            <a:r>
              <a:rPr lang="ru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ires</a:t>
            </a:r>
            <a:r>
              <a:rPr lang="ru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.csv</a:t>
            </a:r>
            <a:r>
              <a:rPr lang="ru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– небольшой реестр «особых» штабелей с несколькими крайне крупными актами</a:t>
            </a:r>
            <a:endParaRPr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17499" lvl="0" marL="899999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-"/>
            </a:pPr>
            <a:r>
              <a:rPr lang="ru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temperature</a:t>
            </a:r>
            <a:r>
              <a:rPr lang="ru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.csv</a:t>
            </a:r>
            <a:r>
              <a:rPr lang="ru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– фон 30–40°C, есть единичные экстремальные значения до сотен °C</a:t>
            </a:r>
            <a:endParaRPr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2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r>
              <a:rPr lang="ru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1" lang="ru" sz="132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Качество данных</a:t>
            </a:r>
            <a:endParaRPr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17499" lvl="0" marL="899999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-"/>
            </a:pPr>
            <a:r>
              <a:rPr lang="ru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Хорошая </a:t>
            </a:r>
            <a:r>
              <a:rPr lang="ru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заполняемость</a:t>
            </a:r>
            <a:r>
              <a:rPr lang="ru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, особенно по логистике</a:t>
            </a:r>
            <a:endParaRPr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17499" lvl="0" marL="899999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-"/>
            </a:pPr>
            <a:r>
              <a:rPr lang="ru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Есть временные несогласованности (отрицательные интервалы между началом формирования и поставками/измерениями)</a:t>
            </a:r>
            <a:endParaRPr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17499" lvl="0" marL="899999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-"/>
            </a:pPr>
            <a:r>
              <a:rPr lang="ru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Выбросы по температуре, требующие проверки или фильтрации</a:t>
            </a:r>
            <a:endParaRPr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9144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4572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2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• Связи и риски</a:t>
            </a:r>
            <a:endParaRPr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17499" lvl="0" marL="899999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-"/>
            </a:pPr>
            <a:r>
              <a:rPr lang="ru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Явной зависимости «чем больше штабель, тем выше температура» не выявлено</a:t>
            </a:r>
            <a:endParaRPr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17500" lvl="0" marL="9144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-"/>
            </a:pPr>
            <a:r>
              <a:rPr lang="ru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Один из складов выглядит «горячее» остальных по распределению температур</a:t>
            </a:r>
            <a:endParaRPr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194" name="Google Shape;194;p25"/>
          <p:cNvCxnSpPr/>
          <p:nvPr/>
        </p:nvCxnSpPr>
        <p:spPr>
          <a:xfrm>
            <a:off x="166325" y="404250"/>
            <a:ext cx="0" cy="4743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25"/>
          <p:cNvCxnSpPr/>
          <p:nvPr/>
        </p:nvCxnSpPr>
        <p:spPr>
          <a:xfrm>
            <a:off x="84850" y="744700"/>
            <a:ext cx="2496900" cy="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6"/>
          <p:cNvSpPr txBox="1"/>
          <p:nvPr>
            <p:ph type="title"/>
          </p:nvPr>
        </p:nvSpPr>
        <p:spPr>
          <a:xfrm>
            <a:off x="222525" y="112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9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Аналитика</a:t>
            </a:r>
            <a:r>
              <a:rPr b="1" lang="ru" sz="3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14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для прогнозирования самовозгорания угля</a:t>
            </a:r>
            <a:endParaRPr b="1" sz="300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cxnSp>
        <p:nvCxnSpPr>
          <p:cNvPr id="203" name="Google Shape;203;p26"/>
          <p:cNvCxnSpPr/>
          <p:nvPr/>
        </p:nvCxnSpPr>
        <p:spPr>
          <a:xfrm>
            <a:off x="166325" y="404250"/>
            <a:ext cx="0" cy="4743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26"/>
          <p:cNvCxnSpPr/>
          <p:nvPr/>
        </p:nvCxnSpPr>
        <p:spPr>
          <a:xfrm>
            <a:off x="84850" y="744700"/>
            <a:ext cx="2496900" cy="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  <p:pic>
        <p:nvPicPr>
          <p:cNvPr id="205" name="Google Shape;20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3" y="744700"/>
            <a:ext cx="3107550" cy="2070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848725"/>
            <a:ext cx="3107550" cy="203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64625" y="878550"/>
            <a:ext cx="5004563" cy="4001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7"/>
          <p:cNvSpPr txBox="1"/>
          <p:nvPr>
            <p:ph type="title"/>
          </p:nvPr>
        </p:nvSpPr>
        <p:spPr>
          <a:xfrm>
            <a:off x="252700" y="96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ML решение подробнее</a:t>
            </a:r>
            <a:endParaRPr b="1" sz="300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14" name="Google Shape;214;p27"/>
          <p:cNvSpPr txBox="1"/>
          <p:nvPr/>
        </p:nvSpPr>
        <p:spPr>
          <a:xfrm>
            <a:off x="311700" y="1232800"/>
            <a:ext cx="101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18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Цель</a:t>
            </a:r>
            <a:endParaRPr b="1" sz="180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27"/>
          <p:cNvSpPr txBox="1"/>
          <p:nvPr/>
        </p:nvSpPr>
        <p:spPr>
          <a:xfrm>
            <a:off x="781200" y="1629775"/>
            <a:ext cx="758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rgbClr val="434343"/>
                </a:solidFill>
                <a:latin typeface="Roboto Light"/>
                <a:ea typeface="Roboto Light"/>
                <a:cs typeface="Roboto Light"/>
                <a:sym typeface="Roboto Light"/>
              </a:rPr>
              <a:t>прогнозирование вероятности пожара на 3 дня вперед (y_3d 1/0) для каждого штабеля</a:t>
            </a:r>
            <a:endParaRPr>
              <a:solidFill>
                <a:srgbClr val="43434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16" name="Google Shape;216;p27"/>
          <p:cNvSpPr txBox="1"/>
          <p:nvPr/>
        </p:nvSpPr>
        <p:spPr>
          <a:xfrm>
            <a:off x="311700" y="2029975"/>
            <a:ext cx="160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18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Решение</a:t>
            </a:r>
            <a:endParaRPr b="1" sz="180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27"/>
          <p:cNvSpPr txBox="1"/>
          <p:nvPr/>
        </p:nvSpPr>
        <p:spPr>
          <a:xfrm>
            <a:off x="781200" y="2442175"/>
            <a:ext cx="5414100" cy="25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lang="ru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Были взяты несколько основных </a:t>
            </a:r>
            <a:r>
              <a:rPr b="1" i="1" lang="ru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features</a:t>
            </a:r>
            <a:r>
              <a:rPr lang="ru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:  </a:t>
            </a:r>
            <a:endParaRPr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-"/>
            </a:pPr>
            <a:r>
              <a:rPr lang="ru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Марка угля (категор. данные - LabelEncoder)</a:t>
            </a:r>
            <a:endParaRPr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-"/>
            </a:pPr>
            <a:r>
              <a:rPr lang="ru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Возраст штабеля (текущая дата − дата формирования)</a:t>
            </a:r>
            <a:endParaRPr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-"/>
            </a:pPr>
            <a:r>
              <a:rPr lang="ru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Масса штабеля в тоннах</a:t>
            </a:r>
            <a:endParaRPr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-"/>
            </a:pPr>
            <a:r>
              <a:rPr lang="ru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Максимальная температура штабеля</a:t>
            </a:r>
            <a:endParaRPr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-"/>
            </a:pPr>
            <a:r>
              <a:rPr lang="ru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Скорость изменения температуры</a:t>
            </a:r>
            <a:endParaRPr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-"/>
            </a:pPr>
            <a:r>
              <a:rPr lang="ru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Сезон/месяц</a:t>
            </a:r>
            <a:endParaRPr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-"/>
            </a:pPr>
            <a:r>
              <a:rPr lang="ru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Температура воздуха</a:t>
            </a:r>
            <a:endParaRPr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-"/>
            </a:pPr>
            <a:r>
              <a:rPr lang="ru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Атмосферное давление</a:t>
            </a:r>
            <a:endParaRPr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Light"/>
              <a:buChar char="-"/>
            </a:pPr>
            <a:r>
              <a:rPr lang="ru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Влажность воздуха</a:t>
            </a:r>
            <a:endParaRPr>
              <a:solidFill>
                <a:srgbClr val="43434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218" name="Google Shape;21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4375" y="2830075"/>
            <a:ext cx="1374750" cy="1374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9" name="Google Shape;219;p27"/>
          <p:cNvCxnSpPr/>
          <p:nvPr/>
        </p:nvCxnSpPr>
        <p:spPr>
          <a:xfrm>
            <a:off x="6195300" y="2642025"/>
            <a:ext cx="0" cy="18201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220" name="Google Shape;220;p27"/>
          <p:cNvSpPr txBox="1"/>
          <p:nvPr/>
        </p:nvSpPr>
        <p:spPr>
          <a:xfrm>
            <a:off x="6311275" y="2442175"/>
            <a:ext cx="30000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132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Обучение модели</a:t>
            </a:r>
            <a:r>
              <a:rPr lang="ru" sz="132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в Colab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21" name="Google Shape;221;p27"/>
          <p:cNvSpPr txBox="1"/>
          <p:nvPr/>
        </p:nvSpPr>
        <p:spPr>
          <a:xfrm>
            <a:off x="6431500" y="4190100"/>
            <a:ext cx="2168700" cy="7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920" u="sng">
                <a:solidFill>
                  <a:srgbClr val="434343"/>
                </a:solidFill>
                <a:latin typeface="Roboto Light"/>
                <a:ea typeface="Roboto Light"/>
                <a:cs typeface="Roboto Light"/>
                <a:sym typeface="Roboto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https://colab.research.google.com/drive/1m_ay4InoQD4758SvMLqGFeRq5rHr3EqJ?usp=sharing#scrollTo=-CTLsMiRRods</a:t>
            </a:r>
            <a:endParaRPr sz="1000">
              <a:solidFill>
                <a:srgbClr val="43434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222" name="Google Shape;222;p27"/>
          <p:cNvCxnSpPr/>
          <p:nvPr/>
        </p:nvCxnSpPr>
        <p:spPr>
          <a:xfrm>
            <a:off x="166325" y="404250"/>
            <a:ext cx="0" cy="4743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27"/>
          <p:cNvCxnSpPr/>
          <p:nvPr/>
        </p:nvCxnSpPr>
        <p:spPr>
          <a:xfrm>
            <a:off x="84850" y="744700"/>
            <a:ext cx="2496900" cy="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8"/>
          <p:cNvSpPr txBox="1"/>
          <p:nvPr>
            <p:ph type="title"/>
          </p:nvPr>
        </p:nvSpPr>
        <p:spPr>
          <a:xfrm>
            <a:off x="252700" y="96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9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Архитектура ML-системы</a:t>
            </a:r>
            <a:r>
              <a:rPr b="1" lang="ru" sz="3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14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для прогнозирования самовозгорания угля</a:t>
            </a:r>
            <a:endParaRPr sz="140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cxnSp>
        <p:nvCxnSpPr>
          <p:cNvPr id="230" name="Google Shape;230;p28"/>
          <p:cNvCxnSpPr/>
          <p:nvPr/>
        </p:nvCxnSpPr>
        <p:spPr>
          <a:xfrm>
            <a:off x="166325" y="412675"/>
            <a:ext cx="0" cy="4743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28"/>
          <p:cNvCxnSpPr/>
          <p:nvPr/>
        </p:nvCxnSpPr>
        <p:spPr>
          <a:xfrm>
            <a:off x="84850" y="753125"/>
            <a:ext cx="2496900" cy="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  <p:pic>
        <p:nvPicPr>
          <p:cNvPr id="232" name="Google Shape;232;p28" title="архитектура мл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325" y="1033625"/>
            <a:ext cx="6310224" cy="35556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8"/>
          <p:cNvSpPr txBox="1"/>
          <p:nvPr/>
        </p:nvSpPr>
        <p:spPr>
          <a:xfrm>
            <a:off x="6760150" y="4435250"/>
            <a:ext cx="226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latin typeface="Roboto Light"/>
                <a:ea typeface="Roboto Light"/>
                <a:cs typeface="Roboto Light"/>
                <a:sym typeface="Roboto Light"/>
              </a:rPr>
              <a:t>https://disk.yandex.ru/i/wo2Ict65rr5IAA</a:t>
            </a:r>
            <a:endParaRPr sz="9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234" name="Google Shape;23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8649" y="3060625"/>
            <a:ext cx="1409700" cy="1409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5" name="Google Shape;235;p28"/>
          <p:cNvCxnSpPr/>
          <p:nvPr/>
        </p:nvCxnSpPr>
        <p:spPr>
          <a:xfrm>
            <a:off x="6645225" y="2154725"/>
            <a:ext cx="0" cy="26931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236" name="Google Shape;236;p28"/>
          <p:cNvSpPr txBox="1"/>
          <p:nvPr/>
        </p:nvSpPr>
        <p:spPr>
          <a:xfrm>
            <a:off x="6760150" y="2571750"/>
            <a:ext cx="21732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132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Описание</a:t>
            </a:r>
            <a:r>
              <a:rPr lang="ru" sz="132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представлено в виде отчета</a:t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/>
          <p:nvPr>
            <p:ph type="title"/>
          </p:nvPr>
        </p:nvSpPr>
        <p:spPr>
          <a:xfrm>
            <a:off x="211900" y="8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ML решение - анализ</a:t>
            </a:r>
            <a:r>
              <a:rPr b="1" lang="ru" sz="3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14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(тест 2019)</a:t>
            </a:r>
            <a:endParaRPr sz="140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2" name="Google Shape;242;p29"/>
          <p:cNvPicPr preferRelativeResize="0"/>
          <p:nvPr/>
        </p:nvPicPr>
        <p:blipFill rotWithShape="1">
          <a:blip r:embed="rId3">
            <a:alphaModFix/>
          </a:blip>
          <a:srcRect b="50782" l="0" r="0" t="0"/>
          <a:stretch/>
        </p:blipFill>
        <p:spPr>
          <a:xfrm>
            <a:off x="211888" y="1677150"/>
            <a:ext cx="8720225" cy="266777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9"/>
          <p:cNvSpPr txBox="1"/>
          <p:nvPr/>
        </p:nvSpPr>
        <p:spPr>
          <a:xfrm>
            <a:off x="3120463" y="3868275"/>
            <a:ext cx="2807400" cy="11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32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Предсказано пожаров: 148</a:t>
            </a:r>
            <a:endParaRPr b="1" sz="132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32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Реальных пожаров: 180</a:t>
            </a:r>
            <a:endParaRPr b="1" sz="132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 sz="132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Точность модели: 82.2%</a:t>
            </a:r>
            <a:endParaRPr b="1" sz="132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4" name="Google Shape;24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cxnSp>
        <p:nvCxnSpPr>
          <p:cNvPr id="245" name="Google Shape;245;p29"/>
          <p:cNvCxnSpPr/>
          <p:nvPr/>
        </p:nvCxnSpPr>
        <p:spPr>
          <a:xfrm>
            <a:off x="166325" y="404250"/>
            <a:ext cx="0" cy="4743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29"/>
          <p:cNvCxnSpPr/>
          <p:nvPr/>
        </p:nvCxnSpPr>
        <p:spPr>
          <a:xfrm>
            <a:off x="84850" y="744700"/>
            <a:ext cx="2496900" cy="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0"/>
          <p:cNvSpPr txBox="1"/>
          <p:nvPr>
            <p:ph type="title"/>
          </p:nvPr>
        </p:nvSpPr>
        <p:spPr>
          <a:xfrm>
            <a:off x="243388" y="74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ML решение - анализ </a:t>
            </a:r>
            <a:r>
              <a:rPr lang="ru" sz="14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(тест 2020)</a:t>
            </a:r>
            <a:endParaRPr sz="140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2" name="Google Shape;252;p30"/>
          <p:cNvPicPr preferRelativeResize="0"/>
          <p:nvPr/>
        </p:nvPicPr>
        <p:blipFill rotWithShape="1">
          <a:blip r:embed="rId3">
            <a:alphaModFix/>
          </a:blip>
          <a:srcRect b="50777" l="0" r="0" t="0"/>
          <a:stretch/>
        </p:blipFill>
        <p:spPr>
          <a:xfrm>
            <a:off x="280138" y="1673225"/>
            <a:ext cx="8583726" cy="2670576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0"/>
          <p:cNvSpPr txBox="1"/>
          <p:nvPr/>
        </p:nvSpPr>
        <p:spPr>
          <a:xfrm>
            <a:off x="3107648" y="3854625"/>
            <a:ext cx="2792100" cy="11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32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Предсказано пожаров: 135</a:t>
            </a:r>
            <a:endParaRPr b="1" sz="132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32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Реальных пожаров: 305</a:t>
            </a:r>
            <a:endParaRPr b="1" sz="132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 sz="132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Точность модели: 44.3%</a:t>
            </a:r>
            <a:endParaRPr b="1" sz="132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cxnSp>
        <p:nvCxnSpPr>
          <p:cNvPr id="255" name="Google Shape;255;p30"/>
          <p:cNvCxnSpPr/>
          <p:nvPr/>
        </p:nvCxnSpPr>
        <p:spPr>
          <a:xfrm>
            <a:off x="166325" y="404250"/>
            <a:ext cx="0" cy="4743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30"/>
          <p:cNvCxnSpPr/>
          <p:nvPr/>
        </p:nvCxnSpPr>
        <p:spPr>
          <a:xfrm>
            <a:off x="84850" y="744700"/>
            <a:ext cx="2496900" cy="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1"/>
          <p:cNvSpPr txBox="1"/>
          <p:nvPr>
            <p:ph type="title"/>
          </p:nvPr>
        </p:nvSpPr>
        <p:spPr>
          <a:xfrm>
            <a:off x="235825" y="99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Метрики качества</a:t>
            </a:r>
            <a:endParaRPr b="1" sz="300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2" name="Google Shape;26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3400" y="1641775"/>
            <a:ext cx="4153475" cy="1278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graphicFrame>
        <p:nvGraphicFramePr>
          <p:cNvPr id="264" name="Google Shape;264;p31"/>
          <p:cNvGraphicFramePr/>
          <p:nvPr/>
        </p:nvGraphicFramePr>
        <p:xfrm>
          <a:off x="311700" y="1346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{CE6CF807-A415-47F1-879F-26BB6CB99823}</a:tableStyleId>
              </a:tblPr>
              <a:tblGrid>
                <a:gridCol w="1154050"/>
                <a:gridCol w="3123075"/>
              </a:tblGrid>
              <a:tr h="564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ru" sz="180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Precision</a:t>
                      </a:r>
                      <a:endParaRPr b="1" sz="180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>
                          <a:solidFill>
                            <a:schemeClr val="dk2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из всех случаев ложноположительных было 24%</a:t>
                      </a:r>
                      <a:endParaRPr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0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ru" sz="180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Recall</a:t>
                      </a:r>
                      <a:endParaRPr b="1" sz="180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>
                          <a:solidFill>
                            <a:schemeClr val="dk2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правильно обнаруженных пожаров в среднем 93%</a:t>
                      </a:r>
                      <a:endParaRPr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ru" sz="180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F1-score</a:t>
                      </a:r>
                      <a:endParaRPr b="1" sz="180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>
                          <a:solidFill>
                            <a:schemeClr val="dk2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дисбаланс precision x recall, НО важнее не пропустить потенциальный пожар</a:t>
                      </a:r>
                      <a:endParaRPr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ru" sz="180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ROC AUC</a:t>
                      </a:r>
                      <a:endParaRPr sz="180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">
                          <a:solidFill>
                            <a:schemeClr val="dk2"/>
                          </a:solidFill>
                          <a:latin typeface="Roboto Light"/>
                          <a:ea typeface="Roboto Light"/>
                          <a:cs typeface="Roboto Light"/>
                          <a:sym typeface="Roboto Light"/>
                        </a:rPr>
                        <a:t>почти идеальное разделение классов, показывает способность модели выделять пожар среди множества случаев</a:t>
                      </a:r>
                      <a:endParaRPr>
                        <a:solidFill>
                          <a:schemeClr val="dk2"/>
                        </a:solidFill>
                        <a:latin typeface="Roboto Light"/>
                        <a:ea typeface="Roboto Light"/>
                        <a:cs typeface="Roboto Light"/>
                        <a:sym typeface="Roboto Ligh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65" name="Google Shape;265;p31"/>
          <p:cNvCxnSpPr/>
          <p:nvPr/>
        </p:nvCxnSpPr>
        <p:spPr>
          <a:xfrm>
            <a:off x="4572000" y="1235463"/>
            <a:ext cx="0" cy="34272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266" name="Google Shape;266;p31"/>
          <p:cNvSpPr txBox="1"/>
          <p:nvPr/>
        </p:nvSpPr>
        <p:spPr>
          <a:xfrm>
            <a:off x="5612475" y="1235475"/>
            <a:ext cx="3284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1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Таблица - Метрики качества модели</a:t>
            </a:r>
            <a:endParaRPr sz="11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267" name="Google Shape;267;p31"/>
          <p:cNvCxnSpPr/>
          <p:nvPr/>
        </p:nvCxnSpPr>
        <p:spPr>
          <a:xfrm>
            <a:off x="166325" y="404250"/>
            <a:ext cx="0" cy="4743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268" name="Google Shape;268;p31"/>
          <p:cNvCxnSpPr/>
          <p:nvPr/>
        </p:nvCxnSpPr>
        <p:spPr>
          <a:xfrm>
            <a:off x="84850" y="744700"/>
            <a:ext cx="2496900" cy="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2"/>
          <p:cNvSpPr txBox="1"/>
          <p:nvPr>
            <p:ph type="title"/>
          </p:nvPr>
        </p:nvSpPr>
        <p:spPr>
          <a:xfrm>
            <a:off x="252725" y="107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Наша работа</a:t>
            </a:r>
            <a:endParaRPr/>
          </a:p>
        </p:txBody>
      </p:sp>
      <p:sp>
        <p:nvSpPr>
          <p:cNvPr id="274" name="Google Shape;274;p32"/>
          <p:cNvSpPr txBox="1"/>
          <p:nvPr>
            <p:ph idx="1" type="body"/>
          </p:nvPr>
        </p:nvSpPr>
        <p:spPr>
          <a:xfrm>
            <a:off x="311700" y="1152475"/>
            <a:ext cx="8520600" cy="8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rgbClr val="434343"/>
                </a:solidFill>
                <a:latin typeface="Roboto Light"/>
                <a:ea typeface="Roboto Light"/>
                <a:cs typeface="Roboto Light"/>
                <a:sym typeface="Roboto Light"/>
              </a:rPr>
              <a:t>Работа с инструкцией по запуску предоставлена в</a:t>
            </a:r>
            <a:r>
              <a:rPr lang="ru"/>
              <a:t> </a:t>
            </a:r>
            <a:r>
              <a:rPr b="1" lang="ru" sz="3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GitHub</a:t>
            </a:r>
            <a:endParaRPr b="1" sz="300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76" name="Google Shape;27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8675" y="1789000"/>
            <a:ext cx="2966650" cy="29666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2"/>
          <p:cNvSpPr txBox="1"/>
          <p:nvPr/>
        </p:nvSpPr>
        <p:spPr>
          <a:xfrm>
            <a:off x="379200" y="4663225"/>
            <a:ext cx="563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434343"/>
                </a:solidFill>
                <a:latin typeface="Roboto Light"/>
                <a:ea typeface="Roboto Light"/>
                <a:cs typeface="Roboto Light"/>
                <a:sym typeface="Roboto Light"/>
              </a:rPr>
              <a:t>https://github.com/Kulikova-A18/glowbyte_hac_2025_command_14</a:t>
            </a:r>
            <a:endParaRPr sz="1000">
              <a:solidFill>
                <a:srgbClr val="43434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278" name="Google Shape;278;p32"/>
          <p:cNvCxnSpPr/>
          <p:nvPr/>
        </p:nvCxnSpPr>
        <p:spPr>
          <a:xfrm>
            <a:off x="166325" y="404250"/>
            <a:ext cx="0" cy="4743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  <p:cxnSp>
        <p:nvCxnSpPr>
          <p:cNvPr id="279" name="Google Shape;279;p32"/>
          <p:cNvCxnSpPr/>
          <p:nvPr/>
        </p:nvCxnSpPr>
        <p:spPr>
          <a:xfrm>
            <a:off x="84850" y="744700"/>
            <a:ext cx="2496900" cy="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dash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30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Спасибо за внимание!</a:t>
            </a:r>
            <a:endParaRPr b="1" sz="3000">
              <a:solidFill>
                <a:srgbClr val="FF99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4" title="GigaChat (2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1450" y="716075"/>
            <a:ext cx="4317125" cy="431712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4"/>
          <p:cNvSpPr txBox="1"/>
          <p:nvPr>
            <p:ph type="ctrTitle"/>
          </p:nvPr>
        </p:nvSpPr>
        <p:spPr>
          <a:xfrm>
            <a:off x="328825" y="716075"/>
            <a:ext cx="3053400" cy="108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1900">
                <a:solidFill>
                  <a:srgbClr val="434343"/>
                </a:solidFill>
                <a:latin typeface="Roboto Light"/>
                <a:ea typeface="Roboto Light"/>
                <a:cs typeface="Roboto Light"/>
                <a:sym typeface="Roboto Light"/>
              </a:rPr>
              <a:t>Команда 14</a:t>
            </a:r>
            <a:endParaRPr sz="1900">
              <a:solidFill>
                <a:srgbClr val="43434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91" name="Google Shape;291;p34"/>
          <p:cNvSpPr txBox="1"/>
          <p:nvPr>
            <p:ph idx="1" type="subTitle"/>
          </p:nvPr>
        </p:nvSpPr>
        <p:spPr>
          <a:xfrm>
            <a:off x="501500" y="2732150"/>
            <a:ext cx="3945000" cy="8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ru" sz="1800">
                <a:latin typeface="Roboto Light"/>
                <a:ea typeface="Roboto Light"/>
                <a:cs typeface="Roboto Light"/>
                <a:sym typeface="Roboto Light"/>
              </a:rPr>
              <a:t>Прогноз самовозгорания угля при открытом хранении </a:t>
            </a:r>
            <a:endParaRPr sz="18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92" name="Google Shape;292;p34"/>
          <p:cNvSpPr txBox="1"/>
          <p:nvPr/>
        </p:nvSpPr>
        <p:spPr>
          <a:xfrm>
            <a:off x="294600" y="1618575"/>
            <a:ext cx="5116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800">
                <a:solidFill>
                  <a:srgbClr val="FF9900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GlowByte</a:t>
            </a:r>
            <a:r>
              <a:rPr lang="ru" sz="3000">
                <a:solidFill>
                  <a:srgbClr val="FF9900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 </a:t>
            </a:r>
            <a:r>
              <a:rPr lang="ru" sz="2600">
                <a:solidFill>
                  <a:srgbClr val="FF9900"/>
                </a:solidFill>
                <a:latin typeface="Roboto"/>
                <a:ea typeface="Roboto"/>
                <a:cs typeface="Roboto"/>
                <a:sym typeface="Roboto"/>
              </a:rPr>
              <a:t>Хакатон 2025</a:t>
            </a:r>
            <a:endParaRPr sz="2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